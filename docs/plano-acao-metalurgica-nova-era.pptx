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Nova Era vendeu 30% a mais e a fábrica não acompanhou. Não viemos falar do aumento de vendas: viemos falar do que trava a entrega. Somos a equipe de PCP e passamos uma semana no chão de fábrica.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um problema de cada vez, sem ler o card inteiro. Feche pelo bloco escuro: os cinco não são cinco brigas separadas, são o mesmo buraco — falta de planejamento. É por isso que o plano começa pela programação da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matriz na diagonal: as forças e as oportunidades são o combustível do plano; as fraquezas são exatamente os cinco problemas do slide anterior. Diga a frase-chave: as fraquezas nós controlamos, as ameaças não — por isso o plano ataca o que está dentro de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1: Atraso de até 10 dias na entrega. Não leia a tabela inteira. Diga o que será feito, por que, quem responde e quanto custa — o resto o slide mostra. Feche pela meta: Atraso máximo de 2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2: Falta de chapa e estoque encalhado. Não leia a tabela inteira. Diga o que será feito, por que, quem responde e quanto custa — o resto o slide mostra. Feche pela meta: Zero parada por falta de chapa.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3: Quebra frequente de prensas e dobradeiras. Não leia a tabela inteira. Diga o que será feito, por que, quem responde e quanto custa — o resto o slide mostra. Feche pela meta: Metade das paradas de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4: 12% da produção vira refugo. Não leia a tabela inteira. Diga o que será feito, por que, quem responde e quanto custa — o resto o slide mostra. Feche pela meta: Refugo abaixo de 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5: Vendas promete prazo que a fábrica não cumpre. Não leia a tabela inteira. Diga o que será feito, por que, quem responde e quanto custa — o resto o slide mostra. Feche pela meta: Prazo só com aval do PCP.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Os números são a projeção do terceiro mês. Peça as três aprovações em voz alta, uma por uma, e termine na frase do rodapé: a demanda alta é uma janela, e ela fecha se a fábrica continuar entregando com dez dias de atraso.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3A454C"/>
          </a:solidFill>
          <a:ln/>
        </p:spPr>
      </p:sp>
      <p:sp>
        <p:nvSpPr>
          <p:cNvPr id="3" name="Shape 1"/>
          <p:cNvSpPr/>
          <p:nvPr/>
        </p:nvSpPr>
        <p:spPr>
          <a:xfrm>
            <a:off x="8549640" y="1828800"/>
            <a:ext cx="2926080" cy="2926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854964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54964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pedidos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fábrica sem folga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CONTROLE DA PRODUÇÃO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Salvando a operação da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Metalúrgica Nova Era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gargalos e plano de ação emergencial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à Diretoria de Operações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Eixo PCP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(escrever aqui os nomes do grupo)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Jovem Aprendiz — Auxiliar de PCP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encontramos no chão de fábrica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semana de observação em corte, prensa, dobra, montagem, almoxarifado e expedição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9ECE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2880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4708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Atraso na entrega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50545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recorrentes de até 10 dias no prazo combinado, com reclamação de clientes importantes.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7276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9ECEE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82880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184708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matéria-prima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250545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para por falta de chapa de alumínio, enquanto itens de baixo giro estão encalhados.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57276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9EC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5632" y="182880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0" y="184708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 de máquina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85632" y="250545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Prensas e dobradeiras param sem aviso: só existe manutenção corretiva, nada de periódica.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9EC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02336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416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 de refugo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04672" y="470001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descartadas por erro de dimensionamento e falta de padrão no corte.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76732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9ECEE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02336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40416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Vendas × Produção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45152" y="470001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comercial fecha prazo sem consultar a capacidade real da fábrica.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376732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32A2E"/>
          </a:solidFill>
          <a:ln/>
        </p:spPr>
      </p:sp>
      <p:sp>
        <p:nvSpPr>
          <p:cNvPr id="30" name="Text 28"/>
          <p:cNvSpPr/>
          <p:nvPr/>
        </p:nvSpPr>
        <p:spPr>
          <a:xfrm>
            <a:off x="8485632" y="400507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 do PCP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485632" y="4462272"/>
            <a:ext cx="3008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9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problemas são um só: a fábrica produz sem programação. Sem plano, compra tarde, quebra sem aviso, erra a medida e promete prazo no escuro.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SWOT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interno e externo da Metalúrgica Nova Era (hipóteses do setor metalúrgico)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232A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07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429000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· AJUDA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fiel de clientes no setor de eletrodomésticos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fabril próprio: prensas e dobradeiras já instaladas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chão de fábrica experiente em conformação de alumínio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conhecida pela qualidade técnica da peça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91072" y="15544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E9ECEE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007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71432" y="1755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 · AJUDA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65392" y="213969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em alta: 30% a mais de pedidos na carteira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regionais de chapa encurtam o prazo de compra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Alumínio é 100% reciclável: a sucata vira receita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acessíveis de PCP e manutenção preditiva (Indústria 4.0)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5486400" cy="2423160"/>
          </a:xfrm>
          <a:prstGeom prst="roundRect">
            <a:avLst>
              <a:gd name="adj" fmla="val 2264"/>
            </a:avLst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599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Fraquezas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29000" y="4114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· ATRAPALHA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49884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programação da produção: atraso de até 10 dias (problema 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desbalanceado, sem curva ABC nem ponto de pedido (problema 2)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só corretiva nas máquinas principais (problema 3)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sem padrão: 12% de refugo (problema 4)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 Produção sem rotina de conversa (problema 5)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3913632"/>
            <a:ext cx="5486400" cy="2423160"/>
          </a:xfrm>
          <a:prstGeom prst="roundRect">
            <a:avLst>
              <a:gd name="adj" fmla="val 2264"/>
            </a:avLst>
          </a:prstGeom>
          <a:solidFill>
            <a:srgbClr val="5C6B75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599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Ameaças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71432" y="4114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 · ATRAPALHA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65392" y="449884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 oscilação do preço do alumínio, cotado em dólar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entregando em prazo menor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contratual e perda de cliente-chave por atraso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de mão de obra técnica de manutenção e ferramentaria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35608" y="3291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· PLANO DE AÇÃO 5W2H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17320" y="585216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Atraso de até 10 dias na entrega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732520" y="475488"/>
            <a:ext cx="2907792" cy="822960"/>
          </a:xfrm>
          <a:prstGeom prst="roundRect">
            <a:avLst>
              <a:gd name="adj" fmla="val 6667"/>
            </a:avLst>
          </a:prstGeom>
          <a:solidFill>
            <a:srgbClr val="232A2E"/>
          </a:solidFill>
          <a:ln/>
        </p:spPr>
      </p:sp>
      <p:sp>
        <p:nvSpPr>
          <p:cNvPr id="7" name="Text 5"/>
          <p:cNvSpPr/>
          <p:nvPr/>
        </p:nvSpPr>
        <p:spPr>
          <a:xfrm>
            <a:off x="8887968" y="475488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máximo de 2 dias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743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Implantar a programação e o sequenciamento da produção, com carteira única de pedidos e apontamento diário de cada centro de trabalho.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 a fábrica produz por ordem de chegada e improviso. Sem programação não há prazo confiável — e o atraso já custa a confiança de clientes importantes.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 de PCP e chão de fábrica: corte, prensa, dobra, montagem e expedição.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1 a 6: mapeamento dos roteiros (S1-S2), piloto na linha de maior volume (S3-S4), extensão às demais linhas (S5-S6). Medição de OTIF a partir da S7.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Coordenador de PCP (responsável), com os auxiliares de PCP e os líderes de cada setor.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Levantar roteiro e tempo padrão por peça; calcular a capacidade de cada centro; sequenciar por data de entrega e gargalo; quadro de programação diária e reunião de 15 min no início do turno; indicador de OTIF divulgado toda semana.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R$ 12.000 — licença de software de programação por 12 meses (R$ 7.200), treinamento da equipe (R$ 3.000), quadros e material de apontamento (R$ 1.800).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35608" y="3291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· PLANO DE AÇÃO 5W2H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17320" y="585216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chapa e estoque encalhado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732520" y="475488"/>
            <a:ext cx="2907792" cy="822960"/>
          </a:xfrm>
          <a:prstGeom prst="roundRect">
            <a:avLst>
              <a:gd name="adj" fmla="val 6667"/>
            </a:avLst>
          </a:prstGeom>
          <a:solidFill>
            <a:srgbClr val="232A2E"/>
          </a:solidFill>
          <a:ln/>
        </p:spPr>
      </p:sp>
      <p:sp>
        <p:nvSpPr>
          <p:cNvPr id="7" name="Text 5"/>
          <p:cNvSpPr/>
          <p:nvPr/>
        </p:nvSpPr>
        <p:spPr>
          <a:xfrm>
            <a:off x="8887968" y="475488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parada por falta de chapa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743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Classificar o estoque por curva ABC e definir ponto de pedido, estoque de segurança e fornecimento programado das chapas de alumínio.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linha para pelo item mais usado enquanto o capital fica parado no item que quase não gira. É falta de política de estoque, não falta de dinheiro.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Almoxarifado e setor de Suprimentos.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1 a 8: inventário geral (S1-S2), curva ABC e parâmetros de reposição (S3-S4), negociação com três fornecedores (S5-S6), destinação dos itens encalhados (S7-S8).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de Suprimentos (responsável) e Almoxarife, com validação dos parâmetros pelo PCP.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Inventário de 100% dos itens; curva ABC por valor de consumo; ponto de pedido = consumo médio × prazo de entrega + estoque de segurança; kanban de reposição para as chapas (itens A); endereçamento e etiquetagem do almoxarifado; revisão mensal dos parâmetros; devolução ou venda do material obsoleto.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R$ 9.500 — inventário e horas extras (R$ 2.500), formação do estoque de segurança (R$ 5.000), etiquetas, endereçamento e leitor de código de barras (R$ 2.000). Estimativa de R$ 40.000 liberados com a saída dos itens encalhados.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35608" y="3291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· PLANO DE AÇÃO 5W2H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17320" y="585216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 frequente de prensas e dobradeiras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732520" y="475488"/>
            <a:ext cx="2907792" cy="822960"/>
          </a:xfrm>
          <a:prstGeom prst="roundRect">
            <a:avLst>
              <a:gd name="adj" fmla="val 6667"/>
            </a:avLst>
          </a:prstGeom>
          <a:solidFill>
            <a:srgbClr val="232A2E"/>
          </a:solidFill>
          <a:ln/>
        </p:spPr>
      </p:sp>
      <p:sp>
        <p:nvSpPr>
          <p:cNvPr id="7" name="Text 5"/>
          <p:cNvSpPr/>
          <p:nvPr/>
        </p:nvSpPr>
        <p:spPr>
          <a:xfrm>
            <a:off x="8887968" y="475488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das paradas de máquina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743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Implantar plano de manutenção preventiva e manutenção autônoma (TPM) nas máquinas principais.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 não planejada derruba a programação do dia inteiro e ainda custa mais caro: a corretiva paga hora de emergência, peça urgente e produção perdida.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 de Manutenção — prensas e dobradeiras, e depois as máquinas de corte.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2 a 10: cadastro dos ativos e matriz de criticidade (S2-S3), plano e checklists (S4-S5), treinamento dos operadores (S6), execução em janelas de sábado a partir da S7. MTBF e MTTR medidos todo mês.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de Manutenção (responsável), com os operadores das máquinas na parte autônoma.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Cadastrar cada ativo com criticidade e horas de uso; plano preventivo por horímetro; checklist diário de 10 min do operador (limpeza, lubrificação, aperto e inspeção); ordem de serviço para toda intervenção; estoque mínimo de peças críticas; painel de disponibilidade por máquina.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R$ 28.000 — kit de peças sobressalentes críticas (R$ 15.000), serviço especializado de revisão das prensas (R$ 8.000), treinamento em TPM (R$ 3.000), lubrificantes e ferramental (R$ 2.000).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35608" y="3291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4 · PLANO DE AÇÃO 5W2H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17320" y="585216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 da produção vira refugo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732520" y="475488"/>
            <a:ext cx="2907792" cy="822960"/>
          </a:xfrm>
          <a:prstGeom prst="roundRect">
            <a:avLst>
              <a:gd name="adj" fmla="val 6667"/>
            </a:avLst>
          </a:prstGeom>
          <a:solidFill>
            <a:srgbClr val="232A2E"/>
          </a:solidFill>
          <a:ln/>
        </p:spPr>
      </p:sp>
      <p:sp>
        <p:nvSpPr>
          <p:cNvPr id="7" name="Text 5"/>
          <p:cNvSpPr/>
          <p:nvPr/>
        </p:nvSpPr>
        <p:spPr>
          <a:xfrm>
            <a:off x="8887968" y="475488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Refugo abaixo de 4%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743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Padronizar o corte e o dimensionamento com procedimento operacional, ficha técnica e gabaritos, e controlar a medida crítica por carta de controle.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peça refugada leva junto matéria-prima, hora de máquina e prazo de entrega. Reduzir de 12% para 4% devolve capacidade sem comprar nenhuma máquina nova.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 de corte, prensa e dobra, com apoio da ferramentaria.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3 a 12: Pareto e Ishikawa dos defeitos (S3-S4), redação dos procedimentos e fabricação dos gabaritos (S5-S7), treinamento dos operadores (S8), controle estatístico e auditoria de processo (S9-S12).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 da Qualidade (responsável), com os líderes de produção e a ferramentaria.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Pareto por tipo de defeito e Ishikawa das causas; procedimento ilustrado por operação; gabaritos e dispositivos à prova de erro; calibração dos instrumentos de medição; aprovação da primeira peça antes de liberar o lote; carta de controle da medida crítica; segregação da sucata de alumínio para reciclagem.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R$ 18.500 — gabaritos e dispositivos (R$ 9.000), calibração e instrumentos de medição (R$ 4.500), treinamento (R$ 3.000), impressão dos procedimentos e sinalização (R$ 2.000).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13232" cy="7132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35608" y="3291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5 · PLANO DE AÇÃO 5W2H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17320" y="585216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Vendas promete prazo que a fábrica não cumpre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732520" y="475488"/>
            <a:ext cx="2907792" cy="822960"/>
          </a:xfrm>
          <a:prstGeom prst="roundRect">
            <a:avLst>
              <a:gd name="adj" fmla="val 6667"/>
            </a:avLst>
          </a:prstGeom>
          <a:solidFill>
            <a:srgbClr val="232A2E"/>
          </a:solidFill>
          <a:ln/>
        </p:spPr>
      </p:sp>
      <p:sp>
        <p:nvSpPr>
          <p:cNvPr id="7" name="Text 5"/>
          <p:cNvSpPr/>
          <p:nvPr/>
        </p:nvSpPr>
        <p:spPr>
          <a:xfrm>
            <a:off x="8887968" y="475488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só com aval do PCP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743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a reunião semanal de vendas e operações (S&amp;OP) e a regra de que prazo só é prometido ao cliente depois de confirmado pelo PCP.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nada adianta arrumar a fábrica se o comercial continuar vendendo um prazo que a capacidade não sustenta. O atraso nasce antes da produção começar.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 de reunião da fábrica, com Comercial, PCP, Produção e Suprimentos.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 para desenhar a regra e o painel; a partir da semana 3, reunião toda segunda-feira às 8h, com 45 minutos; revisão do processo na semana 12.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Diretor de Operações (patrocinador), Gerente Comercial e Coordenador de PCP (condução).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5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único com carteira, capacidade disponível e ocupação por semana (verde, amarelo e vermelho); simulação da data de entrega antes de fechar a proposta; ata com pendências e responsáveis; meta de OTIF compartilhada entre Vendas e Produção.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 — painel compartilhado de acompanhamento por 12 meses (R$ 2.400) e horas de treinamento das duas equipes (R$ 1.600).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para o terceiro mês após o início da execução do plano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3A45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→ 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atraso máximo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projetado de 95%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3A454C"/>
          </a:solidFill>
          <a:ln/>
        </p:spPr>
      </p:sp>
      <p:sp>
        <p:nvSpPr>
          <p:cNvPr id="9" name="Text 7"/>
          <p:cNvSpPr/>
          <p:nvPr/>
        </p:nvSpPr>
        <p:spPr>
          <a:xfrm>
            <a:off x="3685032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 → 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85032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refugo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85032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devolvida sem máquina nova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55664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3A454C"/>
          </a:solidFill>
          <a:ln/>
        </p:spPr>
      </p:sp>
      <p:sp>
        <p:nvSpPr>
          <p:cNvPr id="13" name="Text 11"/>
          <p:cNvSpPr/>
          <p:nvPr/>
        </p:nvSpPr>
        <p:spPr>
          <a:xfrm>
            <a:off x="6638544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38544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paradas não planejadas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38544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 no lugar da corretiva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09176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3A454C"/>
          </a:solidFill>
          <a:ln/>
        </p:spPr>
      </p:sp>
      <p:sp>
        <p:nvSpPr>
          <p:cNvPr id="17" name="Text 15"/>
          <p:cNvSpPr/>
          <p:nvPr/>
        </p:nvSpPr>
        <p:spPr>
          <a:xfrm>
            <a:off x="9592056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R$ 72 mil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92056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investimento total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92056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D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estimado em 4 meses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11091672" cy="1572768"/>
          </a:xfrm>
          <a:prstGeom prst="roundRect">
            <a:avLst>
              <a:gd name="adj" fmla="val 4651"/>
            </a:avLst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6227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diretoria precisa aprovar hoje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R$ 72.000 em três meses, divididos entre as cinco ações — o maior item é a manutenção das prensas.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que nenhum prazo é prometido ao cliente sem confirmação do PCP, valendo a partir da próxima semana.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hora por semana da agenda do Comercial e da Produção para a reunião de vendas e operações.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DD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aumento de 30% na demanda não é o problema da Nova Era: é o prazo de validade da solução.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 PCP — Metalúrgica Nova Era</dc:title>
  <dc:subject>PptxGenJS Presentation</dc:subject>
  <dc:creator>Equipe de PCP — Jovens Aprendizes</dc:creator>
  <cp:lastModifiedBy>Equipe de PCP — Jovens Aprendizes</cp:lastModifiedBy>
  <cp:revision>1</cp:revision>
  <dcterms:created xsi:type="dcterms:W3CDTF">2026-08-10T17:57:50Z</dcterms:created>
  <dcterms:modified xsi:type="dcterms:W3CDTF">2026-08-10T17:57:50Z</dcterms:modified>
</cp:coreProperties>
</file>