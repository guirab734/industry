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imagem é Manchester em 1852, vista do campo. Use ela para abrir: 'olhem o fundo — cada risco daquele é uma chaminé. Em cem anos uma cidade inteira virou isso.' Não leia o slide. Diga o tema e passe. Você tem 30 segundos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Antes, a produção esbarrava na força disponível. Use o exemplo do rio: 'se você queria uma fábrica, tinha que construir do lado de um rio — e se o rio secasse no verão, parava tudo.' Isso prepara o impacto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mais importante. A frase para levar: 'a máquina a vapor não foi só mais uma invenção — ela soltou a fábrica do mapa.' Aponte no desenho: a viga comprida em cima é o balancim; a roda grande à esquerda é o volante, que virava o sobe-e-desce em movimento giratório — era isso que ligava a máquina ao tear. Se perguntarem: Watt não inventou do zero, melhorou a máquina de Newcomen (1712).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cinco. Aponte para 1769 e conte a cadeia numa frase só: a bomba tirava água da mina de carvão; o carvão alimentava a máquina de Watt; a máquina movia o tear; o tear encheu a fábrica de tecido; a ferrovia levou o tecido embora.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frases, uma para cada lado. Esquerda: 'a fábrica junta máquina, energia e gente debaixo do mesmo teto — começou no tecido porque fiar à mão era o maior gargalo da época.' Direita: 'não adianta produzir mil peças se elas ficam paradas no depósito.' Curiosidade que prende: o horário padronizado nasceu por causa do trem, porque cada cidade tinha sua própria hora pelo sol.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Diga: 'a mudança maior não foi na máquina, foi na rotina.' O item do relógio é o mais forte — antes a pessoa acordava com o sol, depois com o apito da fábrica.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que ganha nota: mostra pensamento crítico. Aponte o canto inferior esquerdo da gravura: tem uma menina agachada juntando carretéis no chão. Diga: 'não era exceção, era o normal — criança era mão de obra barata e cabia embaixo da máquina.' Feche com: 'a mesma revolução que criou a fábrica criou a necessidade de leis trabalhistas.'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te dá segurança para as perguntas do próximo. A lógica é sempre a mesma: identificar o que limita a produção e atacar aquilo. 1ª faltava força, 2ª faltava escala, 3ª faltava controle, 4ª falta decidir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RESPOSTAS CURTAS — fale, não leia o slide.
1) Tirou o trabalhador do campo e da oficina e o levou para a fábrica: jornada de 14 a 16 horas, trabalho infantil e cidades sem saneamento. Em troca nasceu o emprego assalariado — e, como reação, os sindicatos e as primeiras leis trabalhistas.
2) Eletricidade, aço barato, petróleo e motor a combustão, linha de montagem de Ford, telégrafo e telefone. Resumo: a produção em massa.
3) Computador, satélite e internet. A informação deixou de depender de transporte físico: virou instantânea, global e quase de graça. Carta que levava dias virou mensagem em segundos.
4) Automatiza tarefas repetitivas, inclusive de escritório. Algumas funções somem, outras nascem ligadas a dados e à supervisão das máquinas. Vale mais quem sabe trabalhar junto com a tecnologia, e requalificação virou permanente.
5) Inteligência artificial, internet das coisas, computação quântica, biotecnologia e edição genética, energias renováveis com armazenamento, e robótica autônoma.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 com a frase do slide, olhando para a turma. Não diga 'é isso, obrigado' — diga a frase e volte um slide para abrir as cinco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ndustry/243a34b7-d02b-5193-b717-6e82dfe9a345/scratchpad/hist/manches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614">
              <a:alpha val="6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640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SENAI · SERGIPE — A REVOLUÇÃO INDUSTRIAL E A TECNOLOGIA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173736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PRIMEIRA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REVOLUÇÃO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85800" y="4937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 — 1840  ·  Inglaterra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8580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em que a força deixou de vir do músculo.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Wyld, “Manchester from Kersal Moor”, 1852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1760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Tudo era feito à mão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621792" cy="621792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45920" y="2286000"/>
            <a:ext cx="5394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força vinha de músculo, água ou vento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3337560"/>
            <a:ext cx="621792" cy="621792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3375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3337560"/>
            <a:ext cx="5394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pessoa fazia a peça inteira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4389120"/>
            <a:ext cx="621792" cy="621792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3891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45920" y="4389120"/>
            <a:ext cx="5394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oficina tinha que ficar na beira do rio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498080" y="210312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1A1614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0" y="26974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Uma peça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por vez.</a:t>
            </a:r>
            <a:endParaRPr lang="en-US" sz="3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ESTOPIM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1769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máquina a vapor de James Watt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40664" y="4206240"/>
            <a:ext cx="146304" cy="146304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397764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 constante, movida a carvão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40664" y="4864608"/>
            <a:ext cx="146304" cy="146304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636008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depende mais de rio nem de vento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40664" y="5522976"/>
            <a:ext cx="146304" cy="146304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5294376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pode ser construída em qualquer lugar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360920" y="960120"/>
            <a:ext cx="4160520" cy="4983480"/>
          </a:xfrm>
          <a:prstGeom prst="roundRect">
            <a:avLst>
              <a:gd name="adj" fmla="val 2198"/>
            </a:avLst>
          </a:prstGeom>
          <a:solidFill>
            <a:srgbClr val="EDE7DE"/>
          </a:solidFill>
          <a:ln/>
        </p:spPr>
      </p:sp>
      <p:pic>
        <p:nvPicPr>
          <p:cNvPr id="12" name="Image 0" descr="/tmp/claude-0/-home-user-industry/243a34b7-d02b-5193-b717-6e82dfe9a345/scratchpad/hist/wa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188720"/>
            <a:ext cx="3703320" cy="420831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589520" y="54864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Boulton &amp; Watt, 1784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Uma invenção puxa a outra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69848" y="3127248"/>
            <a:ext cx="9235440" cy="32004"/>
          </a:xfrm>
          <a:prstGeom prst="rect">
            <a:avLst/>
          </a:prstGeom>
          <a:solidFill>
            <a:srgbClr val="D6CEC3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88036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880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6118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Bomba a vapor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990088" y="288036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10" name="Text 8"/>
          <p:cNvSpPr/>
          <p:nvPr/>
        </p:nvSpPr>
        <p:spPr>
          <a:xfrm>
            <a:off x="2990088" y="2880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990088" y="36118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990088" y="411480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Spinning jenny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4376" y="2880360"/>
            <a:ext cx="530352" cy="530352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5294376" y="2880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94376" y="36118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294376" y="411480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Watt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598664" y="288036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18" name="Text 16"/>
          <p:cNvSpPr/>
          <p:nvPr/>
        </p:nvSpPr>
        <p:spPr>
          <a:xfrm>
            <a:off x="7598664" y="2880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98664" y="36118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1785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598664" y="411480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mecânico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902952" y="288036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22" name="Text 20"/>
          <p:cNvSpPr/>
          <p:nvPr/>
        </p:nvSpPr>
        <p:spPr>
          <a:xfrm>
            <a:off x="9902952" y="2880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902952" y="36118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1825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902952" y="411480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Ferrovia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FEZ NASCER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fábrica e a ferrovia</a:t>
            </a:r>
            <a:endParaRPr lang="en-US" sz="3800" dirty="0"/>
          </a:p>
        </p:txBody>
      </p:sp>
      <p:pic>
        <p:nvPicPr>
          <p:cNvPr id="4" name="Image 0" descr="/tmp/claude-0/-home-user-industry/243a34b7-d02b-5193-b717-6e82dfe9a345/scratchpad/hist/tear18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965960"/>
            <a:ext cx="481267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tear mecânico, 1785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85800" y="565099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sai de casa e entra na fábrica</a:t>
            </a:r>
            <a:endParaRPr lang="en-US" sz="1400" dirty="0"/>
          </a:p>
        </p:txBody>
      </p:sp>
      <p:pic>
        <p:nvPicPr>
          <p:cNvPr id="7" name="Image 1" descr="/tmp/claude-0/-home-user-industry/243a34b7-d02b-5193-b717-6e82dfe9a345/scratchpad/hist/rock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4511101" cy="3108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5257800"/>
            <a:ext cx="5193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ferrovia, 1825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309360" y="5650992"/>
            <a:ext cx="5193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mercadoria alcança outras cidades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VIDA DAS PESSOAS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 campo para a cidade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286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2064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 grande, perto da fábrica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2999232"/>
            <a:ext cx="10820095" cy="10973"/>
          </a:xfrm>
          <a:prstGeom prst="rect">
            <a:avLst/>
          </a:prstGeom>
          <a:solidFill>
            <a:srgbClr val="D6CEC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246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em casa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246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0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fábrica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85800" y="3959352"/>
            <a:ext cx="10820095" cy="10973"/>
          </a:xfrm>
          <a:prstGeom prst="rect">
            <a:avLst/>
          </a:prstGeom>
          <a:solidFill>
            <a:srgbClr val="D6CEC3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2062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 e a estação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120640" y="4206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relógio e o apito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85800" y="4919472"/>
            <a:ext cx="10820095" cy="10973"/>
          </a:xfrm>
          <a:prstGeom prst="rect">
            <a:avLst/>
          </a:prstGeom>
          <a:solidFill>
            <a:srgbClr val="D6CEC3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5166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por peça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20640" y="5166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943600" y="5166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por hora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OUTRO 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Custou caro para quem trabalhava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148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 a 16 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5694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jornada, seis dias por semana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081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Crianças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35021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máquinas, pequenas e baratas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401421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Cortiços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5800" y="4434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sem esgoto nem água limpa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494690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Fuligem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85800" y="53675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carvão queimado sem controle</a:t>
            </a:r>
            <a:endParaRPr lang="en-US" sz="1400" dirty="0"/>
          </a:p>
        </p:txBody>
      </p:sp>
      <p:pic>
        <p:nvPicPr>
          <p:cNvPr id="12" name="Image 0" descr="/tmp/claude-0/-home-user-industry/243a34b7-d02b-5193-b717-6e82dfe9a345/scratchpad/hist/fabrica-algoda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3952" y="2011680"/>
            <a:ext cx="5029200" cy="33528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73952" y="5486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de fábrica de algodão, século XIX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CHEGOU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mesma pergunta, 250 anos depois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2587752" cy="2651760"/>
          </a:xfrm>
          <a:prstGeom prst="roundRect">
            <a:avLst>
              <a:gd name="adj" fmla="val 3534"/>
            </a:avLst>
          </a:prstGeom>
          <a:solidFill>
            <a:srgbClr val="E2DACE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697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3840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Vapor e carvão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74720" y="2377440"/>
            <a:ext cx="2587752" cy="2651760"/>
          </a:xfrm>
          <a:prstGeom prst="roundRect">
            <a:avLst>
              <a:gd name="adj" fmla="val 3534"/>
            </a:avLst>
          </a:prstGeom>
          <a:solidFill>
            <a:srgbClr val="E2DACE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0" y="2697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2ª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84048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0" y="3840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Eletricidade e aço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63640" y="2377440"/>
            <a:ext cx="2587752" cy="2651760"/>
          </a:xfrm>
          <a:prstGeom prst="roundRect">
            <a:avLst>
              <a:gd name="adj" fmla="val 3534"/>
            </a:avLst>
          </a:prstGeom>
          <a:solidFill>
            <a:srgbClr val="E2DACE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2697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3ª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62940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29400" y="3840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internet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52560" y="2377440"/>
            <a:ext cx="2587752" cy="2651760"/>
          </a:xfrm>
          <a:prstGeom prst="roundRect">
            <a:avLst>
              <a:gd name="adj" fmla="val 3534"/>
            </a:avLst>
          </a:prstGeom>
          <a:solidFill>
            <a:srgbClr val="1A1614"/>
          </a:solidFill>
          <a:ln/>
        </p:spPr>
      </p:sp>
      <p:sp>
        <p:nvSpPr>
          <p:cNvPr id="17" name="Text 15"/>
          <p:cNvSpPr/>
          <p:nvPr/>
        </p:nvSpPr>
        <p:spPr>
          <a:xfrm>
            <a:off x="9418320" y="2697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4ª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41832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418320" y="3840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sensores e IA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3492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revolução responde à mesma pergunta: o que ainda limita a produção?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Cinco perguntas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1ª Revolução impactou a vida dos trabalhadores?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2944368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944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94436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foram as principais inovações da 2ª Revolução?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3785616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7856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78561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 forma a 3ª Revolução transformou a comunicação?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85800" y="4626864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626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54480" y="462686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4ª Revolução influencia o mercado de trabalho?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85800" y="5468112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468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546811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tecnologias emergentes podem definir o futuro?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73736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2240280"/>
            <a:ext cx="7223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Primeira Revolução não inventou só máquinas.</a:t>
            </a:r>
            <a:endParaRPr lang="en-US" sz="2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Inventou o jeito de produzir que a gente usa até hoje.</a:t>
            </a:r>
            <a:endParaRPr lang="en-US" sz="2600" dirty="0"/>
          </a:p>
        </p:txBody>
      </p:sp>
      <p:pic>
        <p:nvPicPr>
          <p:cNvPr id="4" name="Image 0" descr="/tmp/claude-0/-home-user-industry/243a34b7-d02b-5193-b717-6e82dfe9a345/scratchpad/hist/manches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00200"/>
            <a:ext cx="3337560" cy="213809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83880" y="39776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183880" y="429768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Wyld, Manchester from Kersal Moor, 1852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Boulton &amp; Watt, 1784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Powerloom weaving, 1835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Rocket, Stephenson, 1830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Fábrica de algodão, século XIX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Wikimedia Commons · domínio público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85800" y="4754880"/>
            <a:ext cx="7223760" cy="10973"/>
          </a:xfrm>
          <a:prstGeom prst="rect">
            <a:avLst/>
          </a:prstGeom>
          <a:solidFill>
            <a:srgbClr val="3A312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50292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consultadas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534924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HOBSBAWM, Eric. A Era das Revoluções (1789–1848).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LANDES, David. Prometeu Desacorrentado.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Britannica — Industrial Revolution.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Primeira Revolução Industrial</dc:title>
  <dc:subject>PptxGenJS Presentation</dc:subject>
  <dc:creator>guirab734</dc:creator>
  <cp:lastModifiedBy>guirab734</cp:lastModifiedBy>
  <cp:revision>1</cp:revision>
  <dcterms:created xsi:type="dcterms:W3CDTF">2026-08-05T09:47:01Z</dcterms:created>
  <dcterms:modified xsi:type="dcterms:W3CDTF">2026-08-05T09:47:01Z</dcterms:modified>
</cp:coreProperties>
</file>