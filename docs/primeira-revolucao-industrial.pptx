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Abre assim: 'Tudo que a gente usa hoje começou num lugar muito específico — uma fábrica de tecido na Inglaterra, por volta de 1760.' Não leia o slide. Diga o nome do tema e passe. Você tem 30 segundos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única: antes, a produção esbarrava na força disponível. Use o exemplo do rio: 'se você queria uma fábrica, tinha que construir ela do lado de um rio — e se o rio secasse no verão, parava tudo.' Isso prepara o impacto do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mais importante. Se a plateia levar uma frase para casa, é esta: 'a máquina a vapor não foi só mais uma invenção — ela soltou a fábrica do mapa.' Antes você dependia do rio. Depois, você levava a força até onde quisesse. Se te perguntarem: Watt não inventou do zero, ele melhorou a máquina de Newcomen (1712) e a deixou eficiente.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cinco. Aponte para 1769 (o círculo laranja) e conte a cadeia: a bomba servia para tirar água da mina de carvão; o carvão alimentava a máquina de Watt; a máquina movia o tear; o tear encheu a fábrica de tecido; a ferrovia levou o tecido embora. Uma frase por seta, e você atravessa o slide em 40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simples: a revolução não começou em tudo ao mesmo tempo, começou no tecido. Por quê? Porque roupa todo mundo precisa, e fiar à mão era lentíssimo. Era o maior gargalo da época, então foi onde a máquina valeu mais a pena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que funciona: 'não adianta produzir mil peças se elas ficam paradas no depósito.' Curiosidade que prende a plateia: o horário padronizado nasceu por causa do trem — cada cidade tinha sua própria hora pelo sol, e isso fazia os trens se perderem. Foi a ferrovia que obrigou o mundo a acertar o relógio.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você humaniza. Diga: 'a mudança maior não foi na máquina, foi na rotina.' O item do relógio é o mais forte — antes a pessoa acordava com o sol, depois passou a acordar com o apito da fábrica. Alguém sempre acha isso interessante.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que ganha nota: mostra pensamento crítico, que é o que o enunciado pede. Diga: 'a mesma revolução que criou a fábrica criou também a necessidade de leis trabalhistas.' Foi daqui que nasceram os sindicatos e as primeiras leis limitando jornada e trabalho infantil.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a parte histórica aqui. Uma frase por cartão, sem ler o texto todo. A ponte para o próximo slide: 'e essas quatro heranças continuam mudando — a gente está vivendo a quarta versão dessa história agora.'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te dá segurança: você já domina a Quarta Revolução pelo projeto da Velora. Diga que a lógica é sempre a mesma — identificar o que limita a produção e atacar aquilo. Se sobrar tempo, cite seu próprio projeto como exemplo da quarta.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enunciado pede exatamente cinco perguntas para estimular a discussão. Não leia as cinco: escolha a 2 e a 5, que são as que geram debate de verdade. Deixe o slide na tela enquanto a turma responde — ele vira o pano de fundo da conversa. A pergunta 5 conecta com o que a turma está estudando em Indústria 4.0.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 com a frase do slide, olhando para a turma, e abre para as perguntas. Não diga 'é isso, obrigado' — diga a frase e pergunte: 'qual dessas cinco vocês querem discutir?' Confira as fontes antes de entregar: cite só o que você realmente consultou.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SENAI · SERGIPE — A REVOLUÇÃO INDUSTRIAL E A TECNOLOGIA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PRIMEIRA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REVOLUÇÃO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85800" y="4892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1760 — 1840  ·  Inglaterra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 em que a força deixou de vir do músculo.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0" y="1691640"/>
            <a:ext cx="2926080" cy="2926080"/>
          </a:xfrm>
          <a:prstGeom prst="ellipse">
            <a:avLst/>
          </a:prstGeom>
          <a:solidFill>
            <a:srgbClr val="332B27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2468880"/>
            <a:ext cx="1371600" cy="137160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0" y="4800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A8E8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1769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MUNDO ANTES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Tudo era feito à mão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meados do século XVIII, quase nada era produzido em escala. A força que movia o mundo tinha três origens — e todas as três eram limitadas.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66928" cy="566928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880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843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Músculo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31821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Gente e animais. Cansa, adoece, precisa comer e dormir.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85800" y="4023360"/>
            <a:ext cx="566928" cy="566928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4023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08760" y="3986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08760" y="43251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 d'água. Só funciona ao lado de um rio, e só quando ele corre.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5166360"/>
            <a:ext cx="566928" cy="566928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5166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0876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08760" y="54681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Moinho. Quando venta. E ninguém manda no vento.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95160" y="1600200"/>
            <a:ext cx="4507992" cy="4480560"/>
          </a:xfrm>
          <a:prstGeom prst="roundRect">
            <a:avLst>
              <a:gd name="adj" fmla="val 2449"/>
            </a:avLst>
          </a:prstGeom>
          <a:solidFill>
            <a:srgbClr val="1A1614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0" y="20116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consequência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06640" y="251460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Uma peça</a:t>
            </a:r>
            <a:endParaRPr lang="en-US" sz="3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por vez.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7406640" y="4069080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artesão fazia o produto inteiro sozinho, na própria casa ou numa oficina pequena. Produzir mais significava, literalmente, arrumar mais uma pessoa.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ESTOPIM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1769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685800" y="306324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máquina a vapor de James Watt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41148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 aperfeiçoou uma máquina que já existia e a tornou eficiente o bastante para valer a pena. Queimando carvão, ela gerava força constante — de dia, de noite, no inverno, longe de qualquer rio.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0" y="1371600"/>
            <a:ext cx="4645152" cy="4206240"/>
          </a:xfrm>
          <a:prstGeom prst="roundRect">
            <a:avLst>
              <a:gd name="adj" fmla="val 2609"/>
            </a:avLst>
          </a:prstGeom>
          <a:solidFill>
            <a:srgbClr val="332B27"/>
          </a:solidFill>
          <a:ln/>
        </p:spPr>
      </p:sp>
      <p:sp>
        <p:nvSpPr>
          <p:cNvPr id="7" name="Text 5"/>
          <p:cNvSpPr/>
          <p:nvPr/>
        </p:nvSpPr>
        <p:spPr>
          <a:xfrm>
            <a:off x="726948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muda tudo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69480" y="22860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primeira vez na história, a fábrica podia ser construída onde a pessoa quisesse — perto do carvão, perto do porto, perto de quem compra.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69480" y="3657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força virou um produto que se compra e se transporta. Deixou de ser um acidente geográfico.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Uma invenção puxa a outra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5727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delas funcionaria sozinha. É a cadeia que faz a revolução.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69848" y="2852928"/>
            <a:ext cx="9235440" cy="32004"/>
          </a:xfrm>
          <a:prstGeom prst="rect">
            <a:avLst/>
          </a:prstGeom>
          <a:solidFill>
            <a:srgbClr val="D6CEC3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60604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33375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37673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Bomba de Newcomen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4370832"/>
            <a:ext cx="20848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máquina a vapor útil, usada para tirar água das minas de carvão.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990088" y="260604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12" name="Text 10"/>
          <p:cNvSpPr/>
          <p:nvPr/>
        </p:nvSpPr>
        <p:spPr>
          <a:xfrm>
            <a:off x="2990088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90088" y="33375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1764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990088" y="37673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Spinning jenny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990088" y="4370832"/>
            <a:ext cx="20848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operário passa a fiar oito fios ao mesmo tempo, em vez de um.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294376" y="2606040"/>
            <a:ext cx="530352" cy="530352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7" name="Text 15"/>
          <p:cNvSpPr/>
          <p:nvPr/>
        </p:nvSpPr>
        <p:spPr>
          <a:xfrm>
            <a:off x="5294376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94376" y="33375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1769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294376" y="37673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Watt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294376" y="4370832"/>
            <a:ext cx="20848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força vira eficiente e barata. É o ponto de virada.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598664" y="260604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22" name="Text 20"/>
          <p:cNvSpPr/>
          <p:nvPr/>
        </p:nvSpPr>
        <p:spPr>
          <a:xfrm>
            <a:off x="7598664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98664" y="33375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1785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598664" y="37673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 mecânico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598664" y="4370832"/>
            <a:ext cx="20848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tecelagem acompanha a fiação. Nasce a fábrica têxtil.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902952" y="2606040"/>
            <a:ext cx="530352" cy="530352"/>
          </a:xfrm>
          <a:prstGeom prst="ellipse">
            <a:avLst/>
          </a:prstGeom>
          <a:solidFill>
            <a:srgbClr val="1A1614"/>
          </a:solidFill>
          <a:ln/>
        </p:spPr>
      </p:sp>
      <p:sp>
        <p:nvSpPr>
          <p:cNvPr id="27" name="Text 25"/>
          <p:cNvSpPr/>
          <p:nvPr/>
        </p:nvSpPr>
        <p:spPr>
          <a:xfrm>
            <a:off x="9902952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902952" y="33375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1825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902952" y="376732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Ferrovia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9902952" y="4370832"/>
            <a:ext cx="20848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Stockton–Darlington: o vapor sai da fábrica e vai para os trilhos.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COMEÇOU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algodão foi o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primeiro teste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31546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indústria têxtil foi a primeira a juntar máquina, vapor e trabalhadores debaixo do mesmo teto. Deu certo ali, e o modelo se espalhou para todo o resto.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46177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 ali que a palavra “fábrica” passou a significar o que significa hoje.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66560" y="1371600"/>
            <a:ext cx="4736592" cy="1280160"/>
          </a:xfrm>
          <a:prstGeom prst="roundRect">
            <a:avLst>
              <a:gd name="adj" fmla="val 7143"/>
            </a:avLst>
          </a:prstGeom>
          <a:solidFill>
            <a:srgbClr val="332B27"/>
          </a:solidFill>
          <a:ln/>
        </p:spPr>
      </p:sp>
      <p:sp>
        <p:nvSpPr>
          <p:cNvPr id="7" name="Text 5"/>
          <p:cNvSpPr/>
          <p:nvPr/>
        </p:nvSpPr>
        <p:spPr>
          <a:xfrm>
            <a:off x="7178040" y="151790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8×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178040" y="20665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fios por operário com a spinning jenny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766560" y="2880360"/>
            <a:ext cx="4736592" cy="1280160"/>
          </a:xfrm>
          <a:prstGeom prst="roundRect">
            <a:avLst>
              <a:gd name="adj" fmla="val 7143"/>
            </a:avLst>
          </a:prstGeom>
          <a:solidFill>
            <a:srgbClr val="332B27"/>
          </a:solidFill>
          <a:ln/>
        </p:spPr>
      </p:sp>
      <p:sp>
        <p:nvSpPr>
          <p:cNvPr id="10" name="Text 8"/>
          <p:cNvSpPr/>
          <p:nvPr/>
        </p:nvSpPr>
        <p:spPr>
          <a:xfrm>
            <a:off x="7178040" y="302666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 teto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178040" y="35753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máquina, energia e gente no mesmo lugar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766560" y="4389120"/>
            <a:ext cx="4736592" cy="1280160"/>
          </a:xfrm>
          <a:prstGeom prst="roundRect">
            <a:avLst>
              <a:gd name="adj" fmla="val 7143"/>
            </a:avLst>
          </a:prstGeom>
          <a:solidFill>
            <a:srgbClr val="332B27"/>
          </a:solidFill>
          <a:ln/>
        </p:spPr>
      </p:sp>
      <p:sp>
        <p:nvSpPr>
          <p:cNvPr id="13" name="Text 11"/>
          <p:cNvSpPr/>
          <p:nvPr/>
        </p:nvSpPr>
        <p:spPr>
          <a:xfrm>
            <a:off x="7178040" y="453542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24 h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178040" y="50840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produção deixa de depender da luz do dia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ALCANCE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ferrovia encolheu o mundo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muito não resolve nada se a mercadoria não chega a lugar nenhum. A locomotiva a vapor foi o que fechou a conta: fábrica de um lado, comprador do outro.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34640"/>
            <a:ext cx="5212080" cy="3108960"/>
          </a:xfrm>
          <a:prstGeom prst="roundRect">
            <a:avLst>
              <a:gd name="adj" fmla="val 3529"/>
            </a:avLst>
          </a:prstGeom>
          <a:solidFill>
            <a:srgbClr val="1A1614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32004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mudou junto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370332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Matéria-prima chega mais longe e mais barata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mercadoria alcança mercados de outras cidades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pessoas passam a se mudar para onde há trabalho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horário passa a ser padronizado entre cidades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63640" y="2834640"/>
            <a:ext cx="5239512" cy="3108960"/>
          </a:xfrm>
          <a:prstGeom prst="roundRect">
            <a:avLst>
              <a:gd name="adj" fmla="val 3529"/>
            </a:avLst>
          </a:prstGeom>
          <a:solidFill>
            <a:srgbClr val="E2DACE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0" y="32918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7E7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Semanas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675120" y="38404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carroça, no lombo do cavalo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75120" y="44805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Dias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675120" y="51389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trilhos, com carga pesada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VIDA DAS PESSOAS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 campo para a cidade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se morava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0" y="1965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0664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 grande, perto da fábrica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2743200"/>
            <a:ext cx="10820095" cy="10973"/>
          </a:xfrm>
          <a:prstGeom prst="rect">
            <a:avLst/>
          </a:prstGeom>
          <a:solidFill>
            <a:srgbClr val="3A312C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se trabalhava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3154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casa ou na oficina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0" y="3154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0664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fábrica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931920"/>
            <a:ext cx="10820095" cy="10973"/>
          </a:xfrm>
          <a:prstGeom prst="rect">
            <a:avLst/>
          </a:prstGeom>
          <a:solidFill>
            <a:srgbClr val="3A312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343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mandava no tempo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 e a estação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0" y="4343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406640" y="4343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relógio e o apito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85800" y="5120640"/>
            <a:ext cx="10820095" cy="10973"/>
          </a:xfrm>
          <a:prstGeom prst="rect">
            <a:avLst/>
          </a:prstGeom>
          <a:solidFill>
            <a:srgbClr val="3A312C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5532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ganhava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5532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que produzia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0" y="5532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06640" y="5532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hora trabalhada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OUTRO 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Custou caro para quem trabalhava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trabalho honesto sobre a Primeira Revolução Industrial não pode parar no progresso. O ganho de produção veio junto com um preço social pesado.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5285232" cy="1417320"/>
          </a:xfrm>
          <a:prstGeom prst="roundRect">
            <a:avLst>
              <a:gd name="adj" fmla="val 6452"/>
            </a:avLst>
          </a:prstGeom>
          <a:solidFill>
            <a:srgbClr val="E2DACE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3017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14 a 16 h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51560" y="3520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jornada por dia, seis dias por semana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2788920"/>
            <a:ext cx="5285232" cy="1417320"/>
          </a:xfrm>
          <a:prstGeom prst="roundRect">
            <a:avLst>
              <a:gd name="adj" fmla="val 6452"/>
            </a:avLst>
          </a:prstGeom>
          <a:solidFill>
            <a:srgbClr val="E2DAC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3017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Crianças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83680" y="3520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trabalhavam nas máquinas por serem pequenas e baratas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85800" y="4480560"/>
            <a:ext cx="5285232" cy="1417320"/>
          </a:xfrm>
          <a:prstGeom prst="roundRect">
            <a:avLst>
              <a:gd name="adj" fmla="val 6452"/>
            </a:avLst>
          </a:prstGeom>
          <a:solidFill>
            <a:srgbClr val="E2DACE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Cortiços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51560" y="5212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cresceram sem esgoto, água limpa ou moradia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4480560"/>
            <a:ext cx="5285232" cy="1417320"/>
          </a:xfrm>
          <a:prstGeom prst="roundRect">
            <a:avLst>
              <a:gd name="adj" fmla="val 6452"/>
            </a:avLst>
          </a:prstGeom>
          <a:solidFill>
            <a:srgbClr val="E2DACE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Fuligem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83680" y="5212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carvão queimado sem controle: a primeira poluição em massa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Quatro heranças que você usa hoje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587752" cy="3246120"/>
          </a:xfrm>
          <a:prstGeom prst="roundRect">
            <a:avLst>
              <a:gd name="adj" fmla="val 3534"/>
            </a:avLst>
          </a:prstGeom>
          <a:solidFill>
            <a:srgbClr val="332B27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51460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fábrica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51560" y="37947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em um lugar só, com etapas divididas entre pessoas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74720" y="2148840"/>
            <a:ext cx="2587752" cy="3246120"/>
          </a:xfrm>
          <a:prstGeom prst="roundRect">
            <a:avLst>
              <a:gd name="adj" fmla="val 3534"/>
            </a:avLst>
          </a:prstGeom>
          <a:solidFill>
            <a:srgbClr val="332B27"/>
          </a:solidFill>
          <a:ln/>
        </p:spPr>
      </p:sp>
      <p:sp>
        <p:nvSpPr>
          <p:cNvPr id="10" name="Shape 8"/>
          <p:cNvSpPr/>
          <p:nvPr/>
        </p:nvSpPr>
        <p:spPr>
          <a:xfrm>
            <a:off x="3840480" y="251460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cidade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840480" y="37947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Gente morando perto de onde trabalha — a cidade moderna nasce aí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2148840"/>
            <a:ext cx="2587752" cy="3246120"/>
          </a:xfrm>
          <a:prstGeom prst="roundRect">
            <a:avLst>
              <a:gd name="adj" fmla="val 3534"/>
            </a:avLst>
          </a:prstGeom>
          <a:solidFill>
            <a:srgbClr val="332B27"/>
          </a:solidFill>
          <a:ln/>
        </p:spPr>
      </p:sp>
      <p:sp>
        <p:nvSpPr>
          <p:cNvPr id="15" name="Shape 13"/>
          <p:cNvSpPr/>
          <p:nvPr/>
        </p:nvSpPr>
        <p:spPr>
          <a:xfrm>
            <a:off x="6629400" y="251460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2940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emprego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629400" y="37947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 por hora, jornada definida e direito trabalhista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87752" cy="3246120"/>
          </a:xfrm>
          <a:prstGeom prst="roundRect">
            <a:avLst>
              <a:gd name="adj" fmla="val 3534"/>
            </a:avLst>
          </a:prstGeom>
          <a:solidFill>
            <a:srgbClr val="332B27"/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0" y="2514600"/>
            <a:ext cx="548640" cy="5486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418320" y="3291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progresso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418320" y="37947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a tecnologia melhora e muda a vida sempre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CHEGOU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161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mesma pergunta, 250 anos depois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revolução responde à mesma pergunta: o que ainda limita a produção? Muda só a resposta.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468880"/>
            <a:ext cx="2587752" cy="3063240"/>
          </a:xfrm>
          <a:prstGeom prst="roundRect">
            <a:avLst>
              <a:gd name="adj" fmla="val 3534"/>
            </a:avLst>
          </a:prstGeom>
          <a:solidFill>
            <a:srgbClr val="E2DACE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1ª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3401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840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Vapor e carvão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4663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Faltava força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74720" y="2468880"/>
            <a:ext cx="2587752" cy="3063240"/>
          </a:xfrm>
          <a:prstGeom prst="roundRect">
            <a:avLst>
              <a:gd name="adj" fmla="val 3534"/>
            </a:avLst>
          </a:prstGeom>
          <a:solidFill>
            <a:srgbClr val="E2DACE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2ª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840480" y="3401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0" y="3840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Eletricidade e aço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840480" y="4663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Faltava escala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63640" y="2468880"/>
            <a:ext cx="2587752" cy="3063240"/>
          </a:xfrm>
          <a:prstGeom prst="roundRect">
            <a:avLst>
              <a:gd name="adj" fmla="val 3534"/>
            </a:avLst>
          </a:prstGeom>
          <a:solidFill>
            <a:srgbClr val="E2DACE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41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3ª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629400" y="3401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7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0" y="3840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6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internet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29400" y="4663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Faltava controle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52560" y="2468880"/>
            <a:ext cx="2587752" cy="3063240"/>
          </a:xfrm>
          <a:prstGeom prst="roundRect">
            <a:avLst>
              <a:gd name="adj" fmla="val 3534"/>
            </a:avLst>
          </a:prstGeom>
          <a:solidFill>
            <a:srgbClr val="1A1614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66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4ª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418320" y="34015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418320" y="3840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sensores e IA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418320" y="4663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decidir sozinho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85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máquina a vapor tirou a fábrica da beira do rio. O sensor tira a decisão da tentativa e erro.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Cinco perguntas para a turma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02920" cy="50292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2029968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máquina a vapor não tivesse sido inventada, o que teria travado primeiro: a produção ou o transporte?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990088"/>
            <a:ext cx="502920" cy="50292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990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96265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Revolução melhorou ou piorou a vida de quem trabalhava? Depende de qual década a gente olha?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922776"/>
            <a:ext cx="502920" cy="50292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922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3895344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revolução começou justamente na indústria têxtil, e não em outra?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855464"/>
            <a:ext cx="502920" cy="50292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855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828032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leis trabalhistas que existem hoje nasceram dos problemas daquela época?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788152"/>
            <a:ext cx="502920" cy="50292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5788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576072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7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máquina substituiu o braço em 1769, o que a inteligência artificial está substituindo agora?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1371600"/>
            <a:ext cx="2194560" cy="2194560"/>
          </a:xfrm>
          <a:prstGeom prst="ellipse">
            <a:avLst/>
          </a:prstGeom>
          <a:solidFill>
            <a:srgbClr val="332B27"/>
          </a:solidFill>
          <a:ln/>
        </p:spPr>
      </p:sp>
      <p:sp>
        <p:nvSpPr>
          <p:cNvPr id="3" name="Shape 1"/>
          <p:cNvSpPr/>
          <p:nvPr/>
        </p:nvSpPr>
        <p:spPr>
          <a:xfrm>
            <a:off x="9829800" y="1965960"/>
            <a:ext cx="1005840" cy="1005840"/>
          </a:xfrm>
          <a:prstGeom prst="ellipse">
            <a:avLst/>
          </a:prstGeom>
          <a:solidFill>
            <a:srgbClr val="D4661F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6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201168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Primeira Revolução Industrial não inventou só máquinas.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EDE7D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Ela inventou o jeito de produzir que a gente usa até hoje.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5800" y="4434840"/>
            <a:ext cx="8138160" cy="10973"/>
          </a:xfrm>
          <a:prstGeom prst="rect">
            <a:avLst/>
          </a:prstGeom>
          <a:solidFill>
            <a:srgbClr val="3A312C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7091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8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consultadas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50292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HOBSBAWM, Eric. A Era das Revoluções (1789–1848).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LANDES, David. Prometeu Desacorrentado.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C7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Britannica — Industrial Revolution.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Primeira Revolução Industrial</dc:title>
  <dc:subject>PptxGenJS Presentation</dc:subject>
  <dc:creator>guirab734</dc:creator>
  <cp:lastModifiedBy>guirab734</cp:lastModifiedBy>
  <cp:revision>1</cp:revision>
  <dcterms:created xsi:type="dcterms:W3CDTF">2026-08-04T23:07:14Z</dcterms:created>
  <dcterms:modified xsi:type="dcterms:W3CDTF">2026-08-04T23:07:14Z</dcterms:modified>
</cp:coreProperties>
</file>